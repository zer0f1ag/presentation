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 snapToObjects="1">
      <p:cViewPr varScale="1">
        <p:scale>
          <a:sx n="73" d="100"/>
          <a:sy n="73" d="100"/>
        </p:scale>
        <p:origin x="882" y="66"/>
      </p:cViewPr>
      <p:guideLst>
        <p:guide orient="horz" pos="2155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5422266" y="4797425"/>
            <a:ext cx="6769734" cy="2060575"/>
          </a:xfrm>
          <a:custGeom>
            <a:avLst/>
            <a:gdLst/>
            <a:ahLst/>
            <a:cxnLst/>
            <a:rect l="l" t="t" r="r" b="b"/>
            <a:pathLst>
              <a:path w="6769734" h="2060575">
                <a:moveTo>
                  <a:pt x="6769608" y="0"/>
                </a:moveTo>
                <a:lnTo>
                  <a:pt x="0" y="2060448"/>
                </a:lnTo>
                <a:lnTo>
                  <a:pt x="6769608" y="2060448"/>
                </a:lnTo>
                <a:lnTo>
                  <a:pt x="6769608" y="0"/>
                </a:lnTo>
                <a:close/>
              </a:path>
            </a:pathLst>
          </a:custGeom>
          <a:solidFill>
            <a:srgbClr val="00246F">
              <a:alpha val="85100"/>
            </a:srgbClr>
          </a:solidFill>
        </p:spPr>
        <p:txBody>
          <a:bodyPr wrap="square" lIns="0" tIns="0" rIns="0" bIns="0"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object 3"/>
          <p:cNvSpPr/>
          <p:nvPr/>
        </p:nvSpPr>
        <p:spPr>
          <a:xfrm>
            <a:off x="2135505" y="5671820"/>
            <a:ext cx="10081260" cy="1186180"/>
          </a:xfrm>
          <a:custGeom>
            <a:avLst/>
            <a:gdLst/>
            <a:ahLst/>
            <a:cxnLst/>
            <a:rect l="l" t="t" r="r" b="b"/>
            <a:pathLst>
              <a:path w="10081260" h="1186179">
                <a:moveTo>
                  <a:pt x="10081260" y="0"/>
                </a:moveTo>
                <a:lnTo>
                  <a:pt x="0" y="1185671"/>
                </a:lnTo>
                <a:lnTo>
                  <a:pt x="10081260" y="1185671"/>
                </a:lnTo>
                <a:lnTo>
                  <a:pt x="10081260" y="0"/>
                </a:lnTo>
                <a:close/>
              </a:path>
            </a:pathLst>
          </a:custGeom>
          <a:solidFill>
            <a:srgbClr val="BEBEBE">
              <a:alpha val="70200"/>
            </a:srgbClr>
          </a:solidFill>
        </p:spPr>
        <p:txBody>
          <a:bodyPr wrap="square" lIns="0" tIns="0" rIns="0" bIns="0"/>
          <a:lstStyle/>
          <a:p>
            <a:pPr>
              <a:defRPr/>
            </a:pPr>
            <a:endParaRPr lang="ko-KR" altLang="en-US"/>
          </a:p>
        </p:txBody>
      </p:sp>
      <p:sp>
        <p:nvSpPr>
          <p:cNvPr id="6" name="object 3"/>
          <p:cNvSpPr/>
          <p:nvPr/>
        </p:nvSpPr>
        <p:spPr>
          <a:xfrm>
            <a:off x="4393692" y="4149090"/>
            <a:ext cx="2998470" cy="0"/>
          </a:xfrm>
          <a:custGeom>
            <a:avLst/>
            <a:gdLst/>
            <a:ahLst/>
            <a:cxnLst/>
            <a:rect l="l" t="t" r="r" b="b"/>
            <a:pathLst>
              <a:path w="2998470">
                <a:moveTo>
                  <a:pt x="0" y="0"/>
                </a:moveTo>
                <a:lnTo>
                  <a:pt x="2997962" y="0"/>
                </a:lnTo>
              </a:path>
            </a:pathLst>
          </a:custGeom>
          <a:ln w="15240">
            <a:solidFill>
              <a:srgbClr val="FFFFFF"/>
            </a:solidFill>
          </a:ln>
        </p:spPr>
        <p:txBody>
          <a:bodyPr wrap="square" lIns="0" tIns="0" rIns="0" bIns="0"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415415" y="3064257"/>
            <a:ext cx="9577197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Heaven's gate </a:t>
            </a: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안티바이러스 탐지 회피 기술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5422266" y="4797425"/>
            <a:ext cx="6769734" cy="2060575"/>
          </a:xfrm>
          <a:custGeom>
            <a:avLst/>
            <a:gdLst/>
            <a:ahLst/>
            <a:cxnLst/>
            <a:rect l="l" t="t" r="r" b="b"/>
            <a:pathLst>
              <a:path w="6769734" h="2060575">
                <a:moveTo>
                  <a:pt x="6769608" y="0"/>
                </a:moveTo>
                <a:lnTo>
                  <a:pt x="0" y="2060448"/>
                </a:lnTo>
                <a:lnTo>
                  <a:pt x="6769608" y="2060448"/>
                </a:lnTo>
                <a:lnTo>
                  <a:pt x="6769608" y="0"/>
                </a:lnTo>
                <a:close/>
              </a:path>
            </a:pathLst>
          </a:custGeom>
          <a:solidFill>
            <a:srgbClr val="00246F">
              <a:alpha val="85100"/>
            </a:srgbClr>
          </a:solidFill>
        </p:spPr>
        <p:txBody>
          <a:bodyPr wrap="square" lIns="0" tIns="0" rIns="0" bIns="0"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object 3"/>
          <p:cNvSpPr/>
          <p:nvPr/>
        </p:nvSpPr>
        <p:spPr>
          <a:xfrm>
            <a:off x="2135505" y="5671820"/>
            <a:ext cx="10081260" cy="1186180"/>
          </a:xfrm>
          <a:custGeom>
            <a:avLst/>
            <a:gdLst/>
            <a:ahLst/>
            <a:cxnLst/>
            <a:rect l="l" t="t" r="r" b="b"/>
            <a:pathLst>
              <a:path w="10081260" h="1186179">
                <a:moveTo>
                  <a:pt x="10081260" y="0"/>
                </a:moveTo>
                <a:lnTo>
                  <a:pt x="0" y="1185671"/>
                </a:lnTo>
                <a:lnTo>
                  <a:pt x="10081260" y="1185671"/>
                </a:lnTo>
                <a:lnTo>
                  <a:pt x="10081260" y="0"/>
                </a:lnTo>
                <a:close/>
              </a:path>
            </a:pathLst>
          </a:custGeom>
          <a:solidFill>
            <a:srgbClr val="BEBEBE">
              <a:alpha val="70200"/>
            </a:srgbClr>
          </a:solidFill>
        </p:spPr>
        <p:txBody>
          <a:bodyPr wrap="square" lIns="0" tIns="0" rIns="0" bIns="0"/>
          <a:lstStyle/>
          <a:p>
            <a:pPr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1.</a:t>
            </a: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Heaven's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gate</a:t>
            </a: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?</a:t>
            </a:r>
            <a:endParaRPr lang="ko-KR" altLang="en-US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7334" y="1911477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2.</a:t>
            </a: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Heaven's gate </a:t>
            </a:r>
            <a:r>
              <a:rPr lang="ko-KR" altLang="en-US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코드 </a:t>
            </a: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334" y="2991612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3.</a:t>
            </a: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Heaven's gate </a:t>
            </a:r>
            <a:r>
              <a:rPr lang="ko-KR" altLang="en-US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사례</a:t>
            </a:r>
            <a:endParaRPr lang="ko-KR" altLang="en-US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rot="16200000" flipH="1">
            <a:off x="299276" y="2240851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rot="16200000" flipH="1">
            <a:off x="299275" y="332098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Heaven's gate?</a:t>
            </a:r>
            <a:endParaRPr lang="en-US" altLang="ko-KR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4081" y="1911477"/>
            <a:ext cx="936117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600">
                <a:latin typeface="-윤고딕330" panose="02030504000101010101" pitchFamily="18" charset="-127"/>
                <a:ea typeface="-윤고딕330" panose="02030504000101010101" pitchFamily="18" charset="-127"/>
              </a:rPr>
              <a:t>■ </a:t>
            </a:r>
            <a:r>
              <a:rPr lang="en-US" altLang="ko-KR" sz="2600">
                <a:latin typeface="-윤고딕330" panose="02030504000101010101" pitchFamily="18" charset="-127"/>
                <a:ea typeface="-윤고딕330" panose="02030504000101010101" pitchFamily="18" charset="-127"/>
              </a:rPr>
              <a:t>32</a:t>
            </a:r>
            <a:r>
              <a:rPr lang="ko-KR" altLang="en-US" sz="2600">
                <a:latin typeface="-윤고딕330" panose="02030504000101010101" pitchFamily="18" charset="-127"/>
                <a:ea typeface="-윤고딕330" panose="02030504000101010101" pitchFamily="18" charset="-127"/>
              </a:rPr>
              <a:t>비트 </a:t>
            </a:r>
            <a:r>
              <a:rPr lang="ko-KR" altLang="en-US" sz="26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애플리케이션</a:t>
            </a:r>
            <a:r>
              <a:rPr lang="ko-KR" altLang="en-US" sz="26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을</a:t>
            </a:r>
            <a:r>
              <a:rPr lang="ko-KR" altLang="en-US" sz="26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2600">
                <a:latin typeface="-윤고딕330" panose="02030504000101010101" pitchFamily="18" charset="-127"/>
                <a:ea typeface="-윤고딕330" panose="02030504000101010101" pitchFamily="18" charset="-127"/>
              </a:rPr>
              <a:t>64</a:t>
            </a:r>
            <a:r>
              <a:rPr lang="ko-KR" altLang="en-US" sz="2600">
                <a:latin typeface="-윤고딕330" panose="02030504000101010101" pitchFamily="18" charset="-127"/>
                <a:ea typeface="-윤고딕330" panose="02030504000101010101" pitchFamily="18" charset="-127"/>
              </a:rPr>
              <a:t>비트 </a:t>
            </a:r>
            <a:r>
              <a:rPr lang="ko-KR" altLang="en-US" sz="26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시스템에서 </a:t>
            </a:r>
            <a:r>
              <a:rPr lang="ko-KR" altLang="en-US" sz="2600">
                <a:latin typeface="-윤고딕330" panose="02030504000101010101" pitchFamily="18" charset="-127"/>
                <a:ea typeface="-윤고딕330" panose="02030504000101010101" pitchFamily="18" charset="-127"/>
              </a:rPr>
              <a:t>실행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52387" y="3140960"/>
            <a:ext cx="9386791" cy="176091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WOW64?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4080" y="1911477"/>
            <a:ext cx="104586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300">
                <a:latin typeface="-윤고딕330" panose="02030504000101010101" pitchFamily="18" charset="-127"/>
                <a:ea typeface="-윤고딕330" panose="02030504000101010101" pitchFamily="18" charset="-127"/>
              </a:rPr>
              <a:t>■ </a:t>
            </a:r>
            <a:r>
              <a:rPr lang="en-US" altLang="ko-KR" sz="2300">
                <a:latin typeface="-윤고딕330" panose="02030504000101010101" pitchFamily="18" charset="-127"/>
                <a:ea typeface="-윤고딕330" panose="02030504000101010101" pitchFamily="18" charset="-127"/>
              </a:rPr>
              <a:t>Windows </a:t>
            </a:r>
            <a:r>
              <a:rPr lang="en-US" altLang="ko-KR" sz="23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64Bit </a:t>
            </a:r>
            <a:r>
              <a:rPr lang="ko-KR" altLang="en-US" sz="2300">
                <a:latin typeface="-윤고딕330" panose="02030504000101010101" pitchFamily="18" charset="-127"/>
                <a:ea typeface="-윤고딕330" panose="02030504000101010101" pitchFamily="18" charset="-127"/>
              </a:rPr>
              <a:t>운영체제에서 </a:t>
            </a:r>
            <a:r>
              <a:rPr lang="en-US" altLang="ko-KR" sz="2300">
                <a:latin typeface="-윤고딕330" panose="02030504000101010101" pitchFamily="18" charset="-127"/>
                <a:ea typeface="-윤고딕330" panose="02030504000101010101" pitchFamily="18" charset="-127"/>
              </a:rPr>
              <a:t>Windows 32Bit </a:t>
            </a:r>
            <a:r>
              <a:rPr lang="ko-KR" altLang="en-US" sz="2300">
                <a:latin typeface="-윤고딕330" panose="02030504000101010101" pitchFamily="18" charset="-127"/>
                <a:ea typeface="-윤고딕330" panose="02030504000101010101" pitchFamily="18" charset="-127"/>
              </a:rPr>
              <a:t>응용 프로그램을 실행할 수 있는 </a:t>
            </a:r>
            <a:r>
              <a:rPr lang="en-US" altLang="ko-KR" sz="2300">
                <a:latin typeface="-윤고딕330" panose="02030504000101010101" pitchFamily="18" charset="-127"/>
                <a:ea typeface="-윤고딕330" panose="02030504000101010101" pitchFamily="18" charset="-127"/>
              </a:rPr>
              <a:t>Windows </a:t>
            </a:r>
            <a:r>
              <a:rPr lang="ko-KR" altLang="en-US" sz="2300">
                <a:latin typeface="-윤고딕330" panose="02030504000101010101" pitchFamily="18" charset="-127"/>
                <a:ea typeface="-윤고딕330" panose="02030504000101010101" pitchFamily="18" charset="-127"/>
              </a:rPr>
              <a:t>운영체제의 하위 시스템</a:t>
            </a:r>
            <a:endParaRPr lang="ko-KR" altLang="en-US" sz="23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1351" y="3501009"/>
            <a:ext cx="10458649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300">
                <a:latin typeface="-윤고딕330" panose="02030504000101010101" pitchFamily="18" charset="-127"/>
                <a:ea typeface="-윤고딕330" panose="02030504000101010101" pitchFamily="18" charset="-127"/>
              </a:rPr>
              <a:t>■ </a:t>
            </a:r>
            <a:r>
              <a:rPr lang="en-US" altLang="ko-KR" sz="2300">
                <a:latin typeface="-윤고딕330" panose="02030504000101010101" pitchFamily="18" charset="-127"/>
                <a:ea typeface="-윤고딕330" panose="02030504000101010101" pitchFamily="18" charset="-127"/>
              </a:rPr>
              <a:t>Ring0</a:t>
            </a:r>
            <a:r>
              <a:rPr lang="ko-KR" altLang="en-US" sz="2300">
                <a:latin typeface="-윤고딕330" panose="02030504000101010101" pitchFamily="18" charset="-127"/>
                <a:ea typeface="-윤고딕330" panose="02030504000101010101" pitchFamily="18" charset="-127"/>
              </a:rPr>
              <a:t>이 아닌 </a:t>
            </a:r>
            <a:r>
              <a:rPr lang="en-US" altLang="ko-KR" sz="2300">
                <a:latin typeface="-윤고딕330" panose="02030504000101010101" pitchFamily="18" charset="-127"/>
                <a:ea typeface="-윤고딕330" panose="02030504000101010101" pitchFamily="18" charset="-127"/>
              </a:rPr>
              <a:t>Ring3</a:t>
            </a:r>
            <a:r>
              <a:rPr lang="ko-KR" altLang="en-US" sz="2300">
                <a:latin typeface="-윤고딕330" panose="02030504000101010101" pitchFamily="18" charset="-127"/>
                <a:ea typeface="-윤고딕330" panose="02030504000101010101" pitchFamily="18" charset="-127"/>
              </a:rPr>
              <a:t>에서 </a:t>
            </a:r>
            <a:r>
              <a:rPr lang="ko-KR" altLang="en-US" sz="23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동작</a:t>
            </a:r>
            <a:endParaRPr lang="ko-KR" altLang="en-US" sz="23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1351" y="4594098"/>
            <a:ext cx="10458649" cy="8237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300">
                <a:latin typeface="-윤고딕330" panose="02030504000101010101" pitchFamily="18" charset="-127"/>
                <a:ea typeface="-윤고딕330" panose="02030504000101010101" pitchFamily="18" charset="-127"/>
              </a:rPr>
              <a:t>■ </a:t>
            </a:r>
            <a:r>
              <a:rPr lang="ko-KR" altLang="en-US" sz="23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커널 모드와 </a:t>
            </a:r>
            <a:r>
              <a:rPr lang="ko-KR" altLang="en-US" sz="2300">
                <a:latin typeface="-윤고딕330" panose="02030504000101010101" pitchFamily="18" charset="-127"/>
                <a:ea typeface="-윤고딕330" panose="02030504000101010101" pitchFamily="18" charset="-127"/>
              </a:rPr>
              <a:t>기존 </a:t>
            </a:r>
            <a:r>
              <a:rPr lang="en-US" altLang="ko-KR" sz="2300">
                <a:latin typeface="-윤고딕330" panose="02030504000101010101" pitchFamily="18" charset="-127"/>
                <a:ea typeface="-윤고딕330" panose="02030504000101010101" pitchFamily="18" charset="-127"/>
              </a:rPr>
              <a:t>x86 ntdll.dll </a:t>
            </a:r>
            <a:r>
              <a:rPr lang="ko-KR" altLang="en-US" sz="2300">
                <a:latin typeface="-윤고딕330" panose="02030504000101010101" pitchFamily="18" charset="-127"/>
                <a:ea typeface="-윤고딕330" panose="02030504000101010101" pitchFamily="18" charset="-127"/>
              </a:rPr>
              <a:t>사이에 위치하여 </a:t>
            </a:r>
            <a:r>
              <a:rPr lang="en-US" altLang="ko-KR" sz="2300">
                <a:latin typeface="-윤고딕330" panose="02030504000101010101" pitchFamily="18" charset="-127"/>
                <a:ea typeface="-윤고딕330" panose="02030504000101010101" pitchFamily="18" charset="-127"/>
              </a:rPr>
              <a:t>32bit </a:t>
            </a:r>
            <a:r>
              <a:rPr lang="ko-KR" altLang="en-US" sz="2300">
                <a:latin typeface="-윤고딕330" panose="02030504000101010101" pitchFamily="18" charset="-127"/>
                <a:ea typeface="-윤고딕330" panose="02030504000101010101" pitchFamily="18" charset="-127"/>
              </a:rPr>
              <a:t>환경에서 </a:t>
            </a:r>
            <a:r>
              <a:rPr lang="en-US" altLang="ko-KR" sz="2300">
                <a:latin typeface="-윤고딕330" panose="02030504000101010101" pitchFamily="18" charset="-127"/>
                <a:ea typeface="-윤고딕330" panose="02030504000101010101" pitchFamily="18" charset="-127"/>
              </a:rPr>
              <a:t>API </a:t>
            </a:r>
            <a:r>
              <a:rPr lang="ko-KR" altLang="en-US" sz="2300">
                <a:latin typeface="-윤고딕330" panose="02030504000101010101" pitchFamily="18" charset="-127"/>
                <a:ea typeface="-윤고딕330" panose="02030504000101010101" pitchFamily="18" charset="-127"/>
              </a:rPr>
              <a:t>호출을 중간에 가로채서 </a:t>
            </a:r>
            <a:r>
              <a:rPr lang="en-US" altLang="ko-KR" sz="2300">
                <a:latin typeface="-윤고딕330" panose="02030504000101010101" pitchFamily="18" charset="-127"/>
                <a:ea typeface="-윤고딕330" panose="02030504000101010101" pitchFamily="18" charset="-127"/>
              </a:rPr>
              <a:t>64bit API </a:t>
            </a:r>
            <a:r>
              <a:rPr lang="ko-KR" altLang="en-US" sz="2300">
                <a:latin typeface="-윤고딕330" panose="02030504000101010101" pitchFamily="18" charset="-127"/>
                <a:ea typeface="-윤고딕330" panose="02030504000101010101" pitchFamily="18" charset="-127"/>
              </a:rPr>
              <a:t>호출로 변경</a:t>
            </a:r>
            <a:endParaRPr lang="ko-KR" altLang="en-US" sz="23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 rot="16200000" flipH="1">
            <a:off x="227267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27267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WOW64 </a:t>
            </a: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동작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3588" y="3265946"/>
            <a:ext cx="1029735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(1) 32</a:t>
            </a:r>
            <a:r>
              <a:rPr lang="ko-KR" altLang="en-US" sz="2200">
                <a:latin typeface="-윤고딕330" panose="02030504000101010101" pitchFamily="18" charset="-127"/>
                <a:ea typeface="-윤고딕330" panose="02030504000101010101" pitchFamily="18" charset="-127"/>
              </a:rPr>
              <a:t>비트 응용 프로그램이 </a:t>
            </a:r>
            <a:r>
              <a:rPr lang="ko-KR" altLang="en-US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시작할 때 </a:t>
            </a:r>
            <a:r>
              <a:rPr lang="en-US" altLang="ko-KR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wow64.dll</a:t>
            </a:r>
            <a:r>
              <a:rPr lang="ko-KR" altLang="en-US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을 </a:t>
            </a:r>
            <a:r>
              <a:rPr lang="ko-KR" altLang="en-US" sz="2200">
                <a:latin typeface="-윤고딕330" panose="02030504000101010101" pitchFamily="18" charset="-127"/>
                <a:ea typeface="-윤고딕330" panose="02030504000101010101" pitchFamily="18" charset="-127"/>
              </a:rPr>
              <a:t>로드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320170" y="2060810"/>
            <a:ext cx="4437314" cy="38774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287145" y="4018172"/>
            <a:ext cx="1029735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(2) wow64.dll</a:t>
            </a:r>
            <a:r>
              <a:rPr lang="ko-KR" altLang="en-US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은 </a:t>
            </a:r>
            <a:r>
              <a:rPr lang="en-US" altLang="ko-KR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ntdll.dll</a:t>
            </a:r>
            <a:r>
              <a:rPr lang="ko-KR" altLang="en-US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과 </a:t>
            </a:r>
            <a:r>
              <a:rPr lang="en-US" altLang="ko-KR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32</a:t>
            </a:r>
            <a:r>
              <a:rPr lang="en-US" altLang="ko-KR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Bit</a:t>
            </a:r>
            <a:r>
              <a:rPr lang="ko-KR" altLang="en-US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2200">
                <a:latin typeface="-윤고딕330" panose="02030504000101010101" pitchFamily="18" charset="-127"/>
                <a:ea typeface="-윤고딕330" panose="02030504000101010101" pitchFamily="18" charset="-127"/>
              </a:rPr>
              <a:t>ntdll.dll</a:t>
            </a:r>
            <a:r>
              <a:rPr lang="ko-KR" altLang="en-US" sz="2200">
                <a:latin typeface="-윤고딕330" panose="02030504000101010101" pitchFamily="18" charset="-127"/>
                <a:ea typeface="-윤고딕330" panose="02030504000101010101" pitchFamily="18" charset="-127"/>
              </a:rPr>
              <a:t> 사이에서 </a:t>
            </a: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sz="2200">
                <a:latin typeface="-윤고딕330" panose="02030504000101010101" pitchFamily="18" charset="-127"/>
                <a:ea typeface="-윤고딕330" panose="02030504000101010101" pitchFamily="18" charset="-127"/>
              </a:rPr>
              <a:t>32</a:t>
            </a:r>
            <a:r>
              <a:rPr lang="ko-KR" altLang="en-US" sz="2200">
                <a:latin typeface="-윤고딕330" panose="02030504000101010101" pitchFamily="18" charset="-127"/>
                <a:ea typeface="-윤고딕330" panose="02030504000101010101" pitchFamily="18" charset="-127"/>
              </a:rPr>
              <a:t>비트 프로세스의 </a:t>
            </a:r>
            <a:r>
              <a:rPr lang="ko-KR" altLang="en-US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실행 환경을 구성</a:t>
            </a:r>
            <a:endParaRPr lang="en-US" altLang="ko-KR" sz="22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79970" y="6152075"/>
            <a:ext cx="6192773" cy="320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500">
                <a:latin typeface="-윤고딕330" panose="02030504000101010101" pitchFamily="18" charset="-127"/>
                <a:ea typeface="-윤고딕330" panose="02030504000101010101" pitchFamily="18" charset="-127"/>
              </a:rPr>
              <a:t>이미지출처 </a:t>
            </a:r>
            <a:r>
              <a:rPr lang="en-US" altLang="ko-KR" sz="1500">
                <a:latin typeface="-윤고딕330" panose="02030504000101010101" pitchFamily="18" charset="-127"/>
                <a:ea typeface="-윤고딕330" panose="02030504000101010101" pitchFamily="18" charset="-127"/>
              </a:rPr>
              <a:t>:</a:t>
            </a:r>
            <a:r>
              <a:rPr lang="ko-KR" altLang="en-US" sz="15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en-US" sz="1500">
                <a:latin typeface="-윤고딕330" panose="02030504000101010101" pitchFamily="18" charset="-127"/>
                <a:ea typeface="-윤고딕330" panose="02030504000101010101" pitchFamily="18" charset="-127"/>
              </a:rPr>
              <a:t>https://m.blog.naver.com/kwleepuppy/221753090157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41681" y="4581160"/>
            <a:ext cx="10585323" cy="7187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551308" y="2102273"/>
            <a:ext cx="93611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64Bit 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시스템 윈도우에서 </a:t>
            </a: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32Bit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notepad.exe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를 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실행했을 때 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떄 </a:t>
            </a:r>
          </a:p>
          <a:p>
            <a:pPr>
              <a:defRPr/>
            </a:pPr>
            <a:r>
              <a:rPr lang="en-US" altLang="ko-KR" sz="2400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WOW64</a:t>
            </a: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모듈이 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올라가는 것을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1306" y="3394519"/>
            <a:ext cx="100093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32Bit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notepad.exe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프로세스에 </a:t>
            </a: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64Bit </a:t>
            </a:r>
            <a:r>
              <a:rPr lang="en-US" altLang="ko-KR" sz="240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WOW64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 모듈이 올라간 것을 확인</a:t>
            </a:r>
          </a:p>
        </p:txBody>
      </p:sp>
      <p:cxnSp>
        <p:nvCxnSpPr>
          <p:cNvPr id="5" name="직선 연결선 4"/>
          <p:cNvCxnSpPr/>
          <p:nvPr/>
        </p:nvCxnSpPr>
        <p:spPr>
          <a:xfrm rot="16200000" flipH="1">
            <a:off x="227267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WOW64 </a:t>
            </a: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실습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27267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Heaven's gate</a:t>
            </a:r>
            <a:r>
              <a:rPr lang="ko-KR" altLang="en-US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1306" y="2132820"/>
            <a:ext cx="1130549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Heaven's </a:t>
            </a: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gate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는 </a:t>
            </a: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32Bit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모듈이 </a:t>
            </a: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64</a:t>
            </a: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Bit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모듈로 넘어가는 과정을 </a:t>
            </a:r>
            <a:r>
              <a:rPr lang="ko-KR" altLang="en-US" sz="2400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생략</a:t>
            </a:r>
            <a:endParaRPr lang="en-US" altLang="ko-KR" sz="2400">
              <a:solidFill>
                <a:srgbClr val="FF0000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en-US" altLang="ko-KR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  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→ </a:t>
            </a:r>
            <a:r>
              <a:rPr lang="en-US" altLang="ko-KR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32</a:t>
            </a:r>
            <a:r>
              <a:rPr lang="en-US" altLang="ko-KR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Bit</a:t>
            </a:r>
            <a:r>
              <a:rPr lang="ko-KR" altLang="en-US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 sz="2200">
                <a:latin typeface="-윤고딕330" panose="02030504000101010101" pitchFamily="18" charset="-127"/>
                <a:ea typeface="-윤고딕330" panose="02030504000101010101" pitchFamily="18" charset="-127"/>
              </a:rPr>
              <a:t>모듈을 검사하는 </a:t>
            </a:r>
            <a:r>
              <a:rPr lang="ko-KR" altLang="en-US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보안 제품을 </a:t>
            </a:r>
            <a:r>
              <a:rPr lang="ko-KR" altLang="en-US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우회</a:t>
            </a:r>
            <a:endParaRPr lang="en-US" altLang="ko-KR" sz="2200" smtClean="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endParaRPr lang="en-US" altLang="ko-KR" sz="2400" smtClean="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64Bit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 함수를 강제로 호출하는 </a:t>
            </a:r>
            <a:r>
              <a:rPr lang="en-US" altLang="ko-KR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Opcode(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명령어</a:t>
            </a: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)</a:t>
            </a:r>
            <a:endParaRPr lang="ko-KR" altLang="en-US" sz="240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en-US" altLang="ko-KR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  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→ </a:t>
            </a:r>
            <a:r>
              <a:rPr lang="en-US" altLang="ko-KR" sz="2200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0x33 </a:t>
            </a:r>
            <a:r>
              <a:rPr lang="en-US" altLang="ko-KR" sz="220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(far)  (call far, jump far, ret far</a:t>
            </a:r>
            <a:r>
              <a:rPr lang="en-US" altLang="ko-KR" sz="2200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)</a:t>
            </a:r>
          </a:p>
          <a:p>
            <a:pPr>
              <a:defRPr/>
            </a:pPr>
            <a:endParaRPr lang="en-US" altLang="ko-KR" sz="2400" smtClean="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endParaRPr lang="en-US" altLang="ko-KR" sz="240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endParaRPr lang="en-US" altLang="ko-KR" sz="240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en-US" altLang="ko-KR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*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수동 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분석을 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진행할 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경우 </a:t>
            </a:r>
            <a:r>
              <a:rPr lang="en-US" altLang="ko-KR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Heaven's gate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기법을 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모른다면 정확한 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행위 분석이 </a:t>
            </a:r>
            <a:r>
              <a:rPr lang="ko-KR" altLang="en-US" sz="2400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불가능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endParaRPr lang="en-US" altLang="ko-KR" sz="2400" smtClean="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en-US" altLang="ko-KR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20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20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  </a:t>
            </a:r>
            <a:r>
              <a:rPr lang="ko-KR" altLang="en-US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→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(32bit </a:t>
            </a:r>
            <a:r>
              <a:rPr lang="en-US" altLang="ko-KR" sz="2200"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 sz="2200">
                <a:latin typeface="-윤고딕330" panose="02030504000101010101" pitchFamily="18" charset="-127"/>
                <a:ea typeface="-윤고딕330" panose="02030504000101010101" pitchFamily="18" charset="-127"/>
              </a:rPr>
              <a:t>를 </a:t>
            </a:r>
            <a:r>
              <a:rPr lang="ko-KR" altLang="en-US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거치지 않고 </a:t>
            </a:r>
            <a:r>
              <a:rPr lang="en-US" altLang="ko-KR" sz="2200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syscall</a:t>
            </a:r>
            <a:r>
              <a:rPr lang="ko-KR" altLang="en-US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을 수행</a:t>
            </a:r>
            <a:r>
              <a:rPr lang="en-US" altLang="ko-KR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)</a:t>
            </a:r>
            <a:endParaRPr lang="en-US" altLang="ko-KR" sz="220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endParaRPr lang="en-US" altLang="ko-KR" sz="240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endParaRPr lang="en-US" altLang="ko-KR" sz="24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27267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Heaven's </a:t>
            </a: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gate</a:t>
            </a:r>
            <a:r>
              <a:rPr lang="ko-KR" altLang="en-US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코드 분석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(1)</a:t>
            </a:r>
            <a:endParaRPr lang="ko-KR" altLang="en-US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41681" y="2959909"/>
            <a:ext cx="3712657" cy="1470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655800" y="1816550"/>
            <a:ext cx="7293328" cy="35284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1526080" y="4571291"/>
            <a:ext cx="40325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0xCB ret far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6654" y="5587697"/>
            <a:ext cx="600247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강제로 </a:t>
            </a:r>
            <a:r>
              <a:rPr lang="en-US" altLang="ko-KR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64bit</a:t>
            </a:r>
            <a:r>
              <a:rPr lang="ko-KR" altLang="en-US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-&gt;</a:t>
            </a:r>
            <a:r>
              <a:rPr lang="ko-KR" altLang="en-US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system call</a:t>
            </a:r>
            <a:r>
              <a:rPr lang="ko-KR" altLang="en-US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호출</a:t>
            </a:r>
            <a:endParaRPr lang="en-US" altLang="ko-KR" sz="2200" smtClean="0">
              <a:solidFill>
                <a:schemeClr val="bg1">
                  <a:lumMod val="50000"/>
                </a:schemeClr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en-US" altLang="ko-KR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(32Bit</a:t>
            </a:r>
            <a:r>
              <a:rPr lang="ko-KR" altLang="en-US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 함수에 후킹하는 보안 제품을 우회</a:t>
            </a:r>
            <a:r>
              <a:rPr lang="en-US" altLang="ko-KR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)</a:t>
            </a:r>
            <a:endParaRPr lang="ko-KR" altLang="en-US" sz="2200">
              <a:solidFill>
                <a:schemeClr val="bg1">
                  <a:lumMod val="50000"/>
                </a:schemeClr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27267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Heaven's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gate </a:t>
            </a:r>
            <a:r>
              <a:rPr lang="ko-KR" altLang="en-US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코드</a:t>
            </a:r>
            <a:r>
              <a:rPr lang="ko-KR" altLang="en-US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분석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(2)</a:t>
            </a:r>
            <a:endParaRPr lang="ko-KR" altLang="en-US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1256" y="2060829"/>
            <a:ext cx="10669488" cy="29523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0627" y="5351199"/>
            <a:ext cx="1143074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Heaven's </a:t>
            </a:r>
            <a:r>
              <a:rPr lang="en-US" altLang="ko-KR" sz="220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gate</a:t>
            </a:r>
            <a:r>
              <a:rPr lang="ko-KR" altLang="en-US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 sz="220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기법을 이용하여 </a:t>
            </a:r>
            <a:r>
              <a:rPr lang="en-US" altLang="ko-KR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32Bit </a:t>
            </a:r>
            <a:r>
              <a:rPr lang="ko-KR" altLang="en-US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애플리케이션 </a:t>
            </a:r>
            <a:r>
              <a:rPr lang="en-US" altLang="ko-KR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-&gt;</a:t>
            </a:r>
            <a:r>
              <a:rPr lang="ko-KR" altLang="en-US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en-US" altLang="ko-KR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64</a:t>
            </a:r>
            <a:r>
              <a:rPr lang="en-US" altLang="ko-KR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Bit </a:t>
            </a:r>
            <a:r>
              <a:rPr lang="ko-KR" altLang="en-US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함수 호출</a:t>
            </a:r>
            <a:endParaRPr lang="en-US" altLang="ko-KR" sz="2200" smtClean="0">
              <a:solidFill>
                <a:schemeClr val="bg1">
                  <a:lumMod val="50000"/>
                </a:schemeClr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 algn="ctr">
              <a:defRPr/>
            </a:pPr>
            <a:r>
              <a:rPr lang="en-US" altLang="ko-KR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[“test.txt”</a:t>
            </a:r>
            <a:r>
              <a:rPr lang="ko-KR" altLang="en-US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파일을 </a:t>
            </a:r>
            <a:r>
              <a:rPr lang="ko-KR" altLang="en-US" sz="220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열거하는 </a:t>
            </a:r>
            <a:r>
              <a:rPr lang="ko-KR" altLang="en-US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샘플 분석 </a:t>
            </a:r>
            <a:r>
              <a:rPr lang="en-US" altLang="ko-KR" sz="22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]</a:t>
            </a:r>
            <a:endParaRPr lang="en-US" altLang="ko-KR" sz="2200">
              <a:solidFill>
                <a:schemeClr val="bg1">
                  <a:lumMod val="50000"/>
                </a:schemeClr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27267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Heaven's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gate </a:t>
            </a:r>
            <a:r>
              <a:rPr lang="ko-KR" altLang="en-US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코드</a:t>
            </a:r>
            <a:r>
              <a:rPr lang="ko-KR" altLang="en-US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분석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(3)</a:t>
            </a:r>
            <a:endParaRPr lang="ko-KR" altLang="en-US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27310" y="2350224"/>
            <a:ext cx="10106979" cy="17853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781043" y="4384051"/>
            <a:ext cx="93611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[CreateFile() </a:t>
            </a:r>
            <a:r>
              <a:rPr lang="ko-KR" altLang="en-US" sz="24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함수를 </a:t>
            </a:r>
            <a:r>
              <a:rPr lang="en-US" altLang="ko-KR" sz="240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64</a:t>
            </a:r>
            <a:r>
              <a:rPr lang="ko-KR" altLang="en-US" sz="240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비트에서 실행하는 영역의 </a:t>
            </a:r>
            <a:r>
              <a:rPr lang="ko-KR" altLang="en-US" sz="24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코드</a:t>
            </a:r>
            <a:r>
              <a:rPr lang="en-US" altLang="ko-KR" sz="2400" smtClean="0">
                <a:solidFill>
                  <a:schemeClr val="bg1">
                    <a:lumMod val="50000"/>
                  </a:schemeClr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]</a:t>
            </a:r>
            <a:endParaRPr lang="ko-KR" altLang="en-US" sz="2400">
              <a:solidFill>
                <a:schemeClr val="bg1">
                  <a:lumMod val="50000"/>
                </a:schemeClr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endParaRPr lang="ko-KR" altLang="en-US" sz="24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143590" y="4989277"/>
            <a:ext cx="74170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>
                <a:latin typeface="-윤고딕330" panose="02030504000101010101" pitchFamily="18" charset="-127"/>
                <a:ea typeface="-윤고딕330" panose="02030504000101010101" pitchFamily="18" charset="-127"/>
              </a:rPr>
              <a:t>동적으로 </a:t>
            </a:r>
            <a:r>
              <a:rPr lang="en-US" altLang="ko-KR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CreateFile() </a:t>
            </a:r>
            <a:r>
              <a:rPr lang="ko-KR" altLang="en-US" sz="2200">
                <a:latin typeface="-윤고딕330" panose="02030504000101010101" pitchFamily="18" charset="-127"/>
                <a:ea typeface="-윤고딕330" panose="02030504000101010101" pitchFamily="18" charset="-127"/>
              </a:rPr>
              <a:t>파라미터를 받아 </a:t>
            </a:r>
            <a:r>
              <a:rPr lang="ko-KR" altLang="en-US" sz="2200">
                <a:latin typeface="-윤고딕330" panose="02030504000101010101" pitchFamily="18" charset="-127"/>
                <a:ea typeface="-윤고딕330" panose="02030504000101010101" pitchFamily="18" charset="-127"/>
              </a:rPr>
              <a:t>함수를 </a:t>
            </a:r>
            <a:r>
              <a:rPr lang="ko-KR" altLang="en-US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호출</a:t>
            </a:r>
            <a:endParaRPr lang="en-US" altLang="ko-KR" sz="220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endParaRPr lang="ko-KR" altLang="en-US" sz="2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27267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Heaven's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gate </a:t>
            </a:r>
            <a:r>
              <a:rPr lang="ko-KR" altLang="en-US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코드</a:t>
            </a:r>
            <a:r>
              <a:rPr lang="ko-KR" altLang="en-US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분석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(4)</a:t>
            </a:r>
            <a:endParaRPr lang="ko-KR" altLang="en-US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51307" y="1988800"/>
            <a:ext cx="9846912" cy="11821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51306" y="3901188"/>
            <a:ext cx="93611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CreateFileA()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에 </a:t>
            </a:r>
            <a:r>
              <a:rPr lang="en-US" altLang="ko-KR" sz="240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breakpoint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를 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설정</a:t>
            </a:r>
            <a:endParaRPr lang="ko-KR" altLang="en-US" sz="24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474567" y="3429000"/>
            <a:ext cx="4459960" cy="32664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570230" y="5817544"/>
            <a:ext cx="63954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CreateFileA()</a:t>
            </a:r>
            <a:r>
              <a:rPr lang="ko-KR" altLang="en-US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에 </a:t>
            </a:r>
            <a:r>
              <a:rPr lang="en-US" altLang="ko-KR" sz="220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breakpoint</a:t>
            </a:r>
            <a:r>
              <a:rPr lang="ko-KR" altLang="en-US" sz="2200">
                <a:latin typeface="-윤고딕330" panose="02030504000101010101" pitchFamily="18" charset="-127"/>
                <a:ea typeface="-윤고딕330" panose="02030504000101010101" pitchFamily="18" charset="-127"/>
              </a:rPr>
              <a:t>가 잡히지 않고 종료</a:t>
            </a:r>
            <a:endParaRPr lang="en-US" altLang="ko-KR" sz="220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3" name="오른쪽 화살표 2"/>
          <p:cNvSpPr/>
          <p:nvPr/>
        </p:nvSpPr>
        <p:spPr>
          <a:xfrm>
            <a:off x="6536236" y="5949350"/>
            <a:ext cx="567904" cy="21603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2536" y="3462441"/>
            <a:ext cx="1249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(1)</a:t>
            </a:r>
            <a:endParaRPr lang="ko-KR" altLang="en-US" sz="20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3974" y="5329091"/>
            <a:ext cx="1249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(2)</a:t>
            </a:r>
            <a:endParaRPr lang="ko-KR" altLang="en-US" sz="20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12" name="오른쪽 화살표 11"/>
          <p:cNvSpPr/>
          <p:nvPr/>
        </p:nvSpPr>
        <p:spPr>
          <a:xfrm rot="16200000">
            <a:off x="3111673" y="3435197"/>
            <a:ext cx="567904" cy="21603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13" name="폭발 1 12"/>
          <p:cNvSpPr/>
          <p:nvPr/>
        </p:nvSpPr>
        <p:spPr>
          <a:xfrm>
            <a:off x="5652093" y="5584445"/>
            <a:ext cx="299887" cy="289511"/>
          </a:xfrm>
          <a:prstGeom prst="irregularSeal1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27267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Heaven's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gate </a:t>
            </a:r>
            <a:r>
              <a:rPr lang="ko-KR" altLang="en-US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코드</a:t>
            </a:r>
            <a:r>
              <a:rPr lang="ko-KR" altLang="en-US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분석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(5)</a:t>
            </a:r>
            <a:endParaRPr lang="ko-KR" altLang="en-US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1680" y="1780520"/>
            <a:ext cx="936117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64Bit</a:t>
            </a:r>
            <a:r>
              <a:rPr lang="ko-KR" altLang="en-US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모드 </a:t>
            </a:r>
            <a:r>
              <a:rPr lang="en-US" altLang="ko-KR" sz="2200">
                <a:latin typeface="-윤고딕330" panose="02030504000101010101" pitchFamily="18" charset="-127"/>
                <a:ea typeface="-윤고딕330" panose="02030504000101010101" pitchFamily="18" charset="-127"/>
              </a:rPr>
              <a:t>S</a:t>
            </a:r>
            <a:r>
              <a:rPr lang="en-US" altLang="ko-KR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witching</a:t>
            </a:r>
            <a:r>
              <a:rPr lang="ko-KR" altLang="en-US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을 지원하는 </a:t>
            </a:r>
            <a:r>
              <a:rPr lang="en-US" altLang="ko-KR" sz="2200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windbg</a:t>
            </a:r>
            <a:r>
              <a:rPr lang="ko-KR" altLang="en-US" sz="2200">
                <a:latin typeface="-윤고딕330" panose="02030504000101010101" pitchFamily="18" charset="-127"/>
                <a:ea typeface="-윤고딕330" panose="02030504000101010101" pitchFamily="18" charset="-127"/>
              </a:rPr>
              <a:t>로 </a:t>
            </a:r>
            <a:r>
              <a:rPr lang="ko-KR" altLang="en-US" sz="22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분석을 진행</a:t>
            </a:r>
            <a:endParaRPr lang="ko-KR" altLang="en-US" sz="22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063440" y="2495436"/>
            <a:ext cx="8723554" cy="41019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27267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Heaven's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gate </a:t>
            </a:r>
            <a:r>
              <a:rPr lang="ko-KR" altLang="en-US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코드</a:t>
            </a:r>
            <a:r>
              <a:rPr lang="ko-KR" altLang="en-US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분석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(6)</a:t>
            </a:r>
            <a:endParaRPr lang="ko-KR" altLang="en-US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1681" y="1734578"/>
            <a:ext cx="93611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retfar</a:t>
            </a:r>
            <a:r>
              <a:rPr lang="en-US" altLang="ko-KR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명령을 수행하고 </a:t>
            </a: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64Bit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코드에서 </a:t>
            </a: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CreateFileA()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를 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호출</a:t>
            </a:r>
            <a:endParaRPr lang="ko-KR" altLang="en-US" sz="24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31380" y="2708900"/>
            <a:ext cx="8842403" cy="27645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27267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>
                <a:latin typeface="-윤고딕330" panose="02030504000101010101" pitchFamily="18" charset="-127"/>
                <a:ea typeface="-윤고딕330" panose="02030504000101010101" pitchFamily="18" charset="-127"/>
              </a:rPr>
              <a:t>Heaven's </a:t>
            </a:r>
            <a:r>
              <a:rPr lang="en-US" altLang="ko-KR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gate </a:t>
            </a:r>
            <a:r>
              <a:rPr lang="ko-KR" altLang="en-US" sz="37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사례</a:t>
            </a:r>
            <a:endParaRPr lang="ko-KR" altLang="en-US" sz="3700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9484" y="2557681"/>
            <a:ext cx="1036936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■  </a:t>
            </a: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64Bit 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모드 </a:t>
            </a:r>
            <a:r>
              <a:rPr lang="en-US" altLang="ko-KR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S</a:t>
            </a: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witching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을 지원하는 </a:t>
            </a:r>
            <a:r>
              <a:rPr lang="en-US" altLang="ko-KR" sz="2400" b="1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Windbg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가 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아닌 </a:t>
            </a: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x64dbg, Ollydbg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같은 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디버거를 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사용 할 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경우 디버깅에 실패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하게 됨</a:t>
            </a: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.</a:t>
            </a:r>
          </a:p>
          <a:p>
            <a:pPr>
              <a:defRPr/>
            </a:pPr>
            <a:endParaRPr lang="en-US" altLang="ko-KR" sz="240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■  해당 기법은 </a:t>
            </a:r>
            <a:r>
              <a:rPr lang="en-US" altLang="ko-KR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 추적을 통한 </a:t>
            </a:r>
            <a:r>
              <a:rPr lang="ko-KR" altLang="en-US" sz="2400" b="1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수동 분석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을 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방해</a:t>
            </a:r>
          </a:p>
          <a:p>
            <a:pPr>
              <a:defRPr/>
            </a:pPr>
            <a:endParaRPr lang="ko-KR" altLang="en-US" sz="2400">
              <a:latin typeface="-윤고딕330" panose="02030504000101010101" pitchFamily="18" charset="-127"/>
              <a:ea typeface="-윤고딕330" panose="02030504000101010101" pitchFamily="18" charset="-127"/>
            </a:endParaRPr>
          </a:p>
          <a:p>
            <a:pPr>
              <a:defRPr/>
            </a:pP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■  </a:t>
            </a:r>
            <a:r>
              <a:rPr lang="en-US" altLang="ko-KR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32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비트 </a:t>
            </a:r>
            <a:r>
              <a:rPr lang="en-US" altLang="ko-KR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API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함수를 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관찰하는 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보안 제품</a:t>
            </a:r>
            <a:r>
              <a:rPr lang="ko-KR" altLang="en-US" sz="2400">
                <a:latin typeface="-윤고딕330" panose="02030504000101010101" pitchFamily="18" charset="-127"/>
                <a:ea typeface="-윤고딕330" panose="02030504000101010101" pitchFamily="18" charset="-127"/>
              </a:rPr>
              <a:t>의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 </a:t>
            </a:r>
            <a:r>
              <a:rPr lang="ko-KR" altLang="en-US" sz="2400" smtClean="0">
                <a:latin typeface="-윤고딕330" panose="02030504000101010101" pitchFamily="18" charset="-127"/>
                <a:ea typeface="-윤고딕330" panose="02030504000101010101" pitchFamily="18" charset="-127"/>
              </a:rPr>
              <a:t>탐지를 </a:t>
            </a:r>
            <a:r>
              <a:rPr lang="ko-KR" altLang="en-US" sz="2400" b="1" smtClean="0">
                <a:solidFill>
                  <a:srgbClr val="FF0000"/>
                </a:solidFill>
                <a:latin typeface="-윤고딕330" panose="02030504000101010101" pitchFamily="18" charset="-127"/>
                <a:ea typeface="-윤고딕330" panose="02030504000101010101" pitchFamily="18" charset="-127"/>
              </a:rPr>
              <a:t>우회</a:t>
            </a:r>
            <a:endParaRPr lang="ko-KR" altLang="en-US" sz="2400" b="1">
              <a:solidFill>
                <a:srgbClr val="FF0000"/>
              </a:solidFill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7" name="object 2"/>
          <p:cNvSpPr/>
          <p:nvPr/>
        </p:nvSpPr>
        <p:spPr>
          <a:xfrm>
            <a:off x="5422266" y="4797425"/>
            <a:ext cx="6769734" cy="2060575"/>
          </a:xfrm>
          <a:custGeom>
            <a:avLst/>
            <a:gdLst/>
            <a:ahLst/>
            <a:cxnLst/>
            <a:rect l="l" t="t" r="r" b="b"/>
            <a:pathLst>
              <a:path w="6769734" h="2060575">
                <a:moveTo>
                  <a:pt x="6769608" y="0"/>
                </a:moveTo>
                <a:lnTo>
                  <a:pt x="0" y="2060448"/>
                </a:lnTo>
                <a:lnTo>
                  <a:pt x="6769608" y="2060448"/>
                </a:lnTo>
                <a:lnTo>
                  <a:pt x="6769608" y="0"/>
                </a:lnTo>
                <a:close/>
              </a:path>
            </a:pathLst>
          </a:custGeom>
          <a:solidFill>
            <a:srgbClr val="00246F">
              <a:alpha val="85100"/>
            </a:srgbClr>
          </a:solidFill>
        </p:spPr>
        <p:txBody>
          <a:bodyPr wrap="square" lIns="0" tIns="0" rIns="0" bIns="0"/>
          <a:lstStyle/>
          <a:p>
            <a:pPr>
              <a:defRPr/>
            </a:pPr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  <p:sp>
        <p:nvSpPr>
          <p:cNvPr id="8" name="object 3"/>
          <p:cNvSpPr/>
          <p:nvPr/>
        </p:nvSpPr>
        <p:spPr>
          <a:xfrm>
            <a:off x="2135505" y="5671820"/>
            <a:ext cx="10081260" cy="1186180"/>
          </a:xfrm>
          <a:custGeom>
            <a:avLst/>
            <a:gdLst/>
            <a:ahLst/>
            <a:cxnLst/>
            <a:rect l="l" t="t" r="r" b="b"/>
            <a:pathLst>
              <a:path w="10081260" h="1186179">
                <a:moveTo>
                  <a:pt x="10081260" y="0"/>
                </a:moveTo>
                <a:lnTo>
                  <a:pt x="0" y="1185671"/>
                </a:lnTo>
                <a:lnTo>
                  <a:pt x="10081260" y="1185671"/>
                </a:lnTo>
                <a:lnTo>
                  <a:pt x="10081260" y="0"/>
                </a:lnTo>
                <a:close/>
              </a:path>
            </a:pathLst>
          </a:custGeom>
          <a:solidFill>
            <a:srgbClr val="BEBEBE">
              <a:alpha val="70200"/>
            </a:srgbClr>
          </a:solidFill>
        </p:spPr>
        <p:txBody>
          <a:bodyPr wrap="square" lIns="0" tIns="0" rIns="0" bIns="0"/>
          <a:lstStyle/>
          <a:p>
            <a:pPr>
              <a:defRPr/>
            </a:pPr>
            <a:endParaRPr lang="ko-KR" altLang="en-US">
              <a:latin typeface="-윤고딕330" panose="02030504000101010101" pitchFamily="18" charset="-127"/>
              <a:ea typeface="-윤고딕330" panose="02030504000101010101" pitchFamily="18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506" y="1196690"/>
            <a:ext cx="6327040" cy="443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601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8"/>
          <p:cNvSpPr/>
          <p:nvPr/>
        </p:nvSpPr>
        <p:spPr>
          <a:xfrm>
            <a:off x="193624" y="6309400"/>
            <a:ext cx="11879206" cy="0"/>
          </a:xfrm>
          <a:prstGeom prst="line">
            <a:avLst/>
          </a:prstGeom>
          <a:ln w="9525" cap="flat">
            <a:solidFill>
              <a:srgbClr val="FAFAFA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46</TotalTime>
  <Words>383</Words>
  <Application>Microsoft Office PowerPoint</Application>
  <PresentationFormat>와이드스크린</PresentationFormat>
  <Paragraphs>55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-윤고딕330</vt:lpstr>
      <vt:lpstr>함초롬돋움</vt:lpstr>
      <vt:lpstr>Arial</vt:lpstr>
      <vt:lpstr>Times New Roman</vt:lpstr>
      <vt:lpstr>한컴오피스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jdh69</dc:creator>
  <cp:lastModifiedBy>전동혁</cp:lastModifiedBy>
  <cp:revision>212</cp:revision>
  <dcterms:created xsi:type="dcterms:W3CDTF">2023-11-13T03:20:15Z</dcterms:created>
  <dcterms:modified xsi:type="dcterms:W3CDTF">2026-01-15T07:11:54Z</dcterms:modified>
  <cp:version>1000.0000.01</cp:version>
</cp:coreProperties>
</file>