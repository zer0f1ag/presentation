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sldIdLst>
    <p:sldId id="256" r:id="rId2"/>
    <p:sldId id="257" r:id="rId3"/>
    <p:sldId id="259" r:id="rId4"/>
    <p:sldId id="271" r:id="rId5"/>
    <p:sldId id="267" r:id="rId6"/>
    <p:sldId id="272" r:id="rId7"/>
    <p:sldId id="268" r:id="rId8"/>
    <p:sldId id="275" r:id="rId9"/>
    <p:sldId id="278" r:id="rId10"/>
    <p:sldId id="273" r:id="rId11"/>
    <p:sldId id="274" r:id="rId12"/>
    <p:sldId id="270" r:id="rId13"/>
    <p:sldId id="269" r:id="rId14"/>
    <p:sldId id="279" r:id="rId15"/>
    <p:sldId id="276" r:id="rId16"/>
    <p:sldId id="277" r:id="rId17"/>
    <p:sldId id="280" r:id="rId18"/>
    <p:sldId id="281" r:id="rId19"/>
    <p:sldId id="283" r:id="rId20"/>
    <p:sldId id="282" r:id="rId21"/>
    <p:sldId id="284" r:id="rId22"/>
    <p:sldId id="285" r:id="rId23"/>
    <p:sldId id="286" r:id="rId24"/>
    <p:sldId id="287" r:id="rId25"/>
    <p:sldId id="288" r:id="rId26"/>
    <p:sldId id="290" r:id="rId27"/>
    <p:sldId id="293" r:id="rId28"/>
    <p:sldId id="291" r:id="rId29"/>
    <p:sldId id="292" r:id="rId30"/>
    <p:sldId id="294" r:id="rId31"/>
    <p:sldId id="266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Objects="1">
      <p:cViewPr varScale="1">
        <p:scale>
          <a:sx n="73" d="100"/>
          <a:sy n="73" d="100"/>
        </p:scale>
        <p:origin x="882" y="66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5422266" y="4797425"/>
            <a:ext cx="6769734" cy="2060575"/>
          </a:xfrm>
          <a:custGeom>
            <a:avLst/>
            <a:gdLst/>
            <a:ahLst/>
            <a:cxnLst/>
            <a:rect l="l" t="t" r="r" b="b"/>
            <a:pathLst>
              <a:path w="6769734" h="2060575">
                <a:moveTo>
                  <a:pt x="6769608" y="0"/>
                </a:moveTo>
                <a:lnTo>
                  <a:pt x="0" y="2060448"/>
                </a:lnTo>
                <a:lnTo>
                  <a:pt x="6769608" y="2060448"/>
                </a:lnTo>
                <a:lnTo>
                  <a:pt x="6769608" y="0"/>
                </a:lnTo>
                <a:close/>
              </a:path>
            </a:pathLst>
          </a:custGeom>
          <a:solidFill>
            <a:srgbClr val="00246F">
              <a:alpha val="851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object 3"/>
          <p:cNvSpPr/>
          <p:nvPr/>
        </p:nvSpPr>
        <p:spPr>
          <a:xfrm>
            <a:off x="2135505" y="5671820"/>
            <a:ext cx="10081260" cy="1186180"/>
          </a:xfrm>
          <a:custGeom>
            <a:avLst/>
            <a:gdLst/>
            <a:ahLst/>
            <a:cxnLst/>
            <a:rect l="l" t="t" r="r" b="b"/>
            <a:pathLst>
              <a:path w="10081260" h="1186179">
                <a:moveTo>
                  <a:pt x="10081260" y="0"/>
                </a:moveTo>
                <a:lnTo>
                  <a:pt x="0" y="1185671"/>
                </a:lnTo>
                <a:lnTo>
                  <a:pt x="10081260" y="1185671"/>
                </a:lnTo>
                <a:lnTo>
                  <a:pt x="10081260" y="0"/>
                </a:lnTo>
                <a:close/>
              </a:path>
            </a:pathLst>
          </a:custGeom>
          <a:solidFill>
            <a:srgbClr val="BEBEBE">
              <a:alpha val="702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object 3"/>
          <p:cNvSpPr/>
          <p:nvPr/>
        </p:nvSpPr>
        <p:spPr>
          <a:xfrm>
            <a:off x="4446322" y="3571737"/>
            <a:ext cx="3312460" cy="45719"/>
          </a:xfrm>
          <a:custGeom>
            <a:avLst/>
            <a:gdLst/>
            <a:ahLst/>
            <a:cxnLst/>
            <a:rect l="l" t="t" r="r" b="b"/>
            <a:pathLst>
              <a:path w="2998470">
                <a:moveTo>
                  <a:pt x="0" y="0"/>
                </a:moveTo>
                <a:lnTo>
                  <a:pt x="2997962" y="0"/>
                </a:lnTo>
              </a:path>
            </a:pathLst>
          </a:custGeom>
          <a:ln w="15240">
            <a:solidFill>
              <a:srgbClr val="FFFFFF"/>
            </a:solidFill>
          </a:ln>
        </p:spPr>
        <p:txBody>
          <a:bodyPr wrap="square" lIns="0" tIns="0" rIns="0" bIns="0"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295750" y="2852920"/>
            <a:ext cx="6480832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obfuscation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5422266" y="4797425"/>
            <a:ext cx="6769734" cy="2060575"/>
          </a:xfrm>
          <a:custGeom>
            <a:avLst/>
            <a:gdLst/>
            <a:ahLst/>
            <a:cxnLst/>
            <a:rect l="l" t="t" r="r" b="b"/>
            <a:pathLst>
              <a:path w="6769734" h="2060575">
                <a:moveTo>
                  <a:pt x="6769608" y="0"/>
                </a:moveTo>
                <a:lnTo>
                  <a:pt x="0" y="2060448"/>
                </a:lnTo>
                <a:lnTo>
                  <a:pt x="6769608" y="2060448"/>
                </a:lnTo>
                <a:lnTo>
                  <a:pt x="6769608" y="0"/>
                </a:lnTo>
                <a:close/>
              </a:path>
            </a:pathLst>
          </a:custGeom>
          <a:solidFill>
            <a:srgbClr val="00246F">
              <a:alpha val="851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object 3"/>
          <p:cNvSpPr/>
          <p:nvPr/>
        </p:nvSpPr>
        <p:spPr>
          <a:xfrm>
            <a:off x="2135505" y="5671820"/>
            <a:ext cx="10081260" cy="1186180"/>
          </a:xfrm>
          <a:custGeom>
            <a:avLst/>
            <a:gdLst/>
            <a:ahLst/>
            <a:cxnLst/>
            <a:rect l="l" t="t" r="r" b="b"/>
            <a:pathLst>
              <a:path w="10081260" h="1186179">
                <a:moveTo>
                  <a:pt x="10081260" y="0"/>
                </a:moveTo>
                <a:lnTo>
                  <a:pt x="0" y="1185671"/>
                </a:lnTo>
                <a:lnTo>
                  <a:pt x="10081260" y="1185671"/>
                </a:lnTo>
                <a:lnTo>
                  <a:pt x="10081260" y="0"/>
                </a:lnTo>
                <a:close/>
              </a:path>
            </a:pathLst>
          </a:custGeom>
          <a:solidFill>
            <a:srgbClr val="BEBEBE">
              <a:alpha val="70200"/>
            </a:srgbClr>
          </a:solidFill>
        </p:spPr>
        <p:txBody>
          <a:bodyPr wrap="square" lIns="0" tIns="0" rIns="0" bIns="0"/>
          <a:lstStyle/>
          <a:p>
            <a:pPr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16748" y="1982266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Protector And API </a:t>
            </a: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1681" y="3056500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Runtime API </a:t>
            </a: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obfuscation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 rot="16200000" flipH="1">
            <a:off x="302106" y="2298849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 rot="16200000" flipH="1">
            <a:off x="302106" y="3378984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1609070" y="674606"/>
            <a:ext cx="6480832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Contents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1681" y="4033300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Manual analysis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 rot="16200000" flipH="1">
            <a:off x="302107" y="4357340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 rot="16200000" flipH="1">
            <a:off x="302105" y="5409279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41681" y="5071600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en-US" altLang="ko-KR" sz="3700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Deobfuscator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Packer?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1681" y="2023109"/>
            <a:ext cx="972121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패커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패커란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실행 파일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“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압축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”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기를 말함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정확한 명칭은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Run-Time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패커라고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한다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사용 목적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→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PE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파일의 크기를 줄이고자 하는 목적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(compressor)</a:t>
            </a:r>
          </a:p>
          <a:p>
            <a:pPr>
              <a:defRPr/>
            </a:pP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→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PE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파일의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내부 코드와 리소스를 감추기 위한 목적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종류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UPX, </a:t>
            </a: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ASPack</a:t>
            </a: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Packer?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23490" y="5620664"/>
            <a:ext cx="13118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UPX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20" y="2200251"/>
            <a:ext cx="5352307" cy="310101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100" y="2128993"/>
            <a:ext cx="3896269" cy="31722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08299" y="5558995"/>
            <a:ext cx="13118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ASPack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004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Packer?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1681" y="2023109"/>
            <a:ext cx="97212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프로텍터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PE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파일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실행파일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리버싱으로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부터 보호하기 위한 유틸리티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실행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압축기능을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포함하여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리버싱을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막기 위한 다양한 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안티 </a:t>
            </a:r>
            <a:r>
              <a:rPr lang="ko-KR" altLang="en-US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리버싱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기법이 적용됨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 anti-debugging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en-US" altLang="ko-KR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obfucation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Redirect, Anti assemble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CodeVirtualization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)</a:t>
            </a:r>
          </a:p>
          <a:p>
            <a:pPr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사용 목적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→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Cracking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방지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→ 코드 및 리소스 보호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종류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상용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ASProtect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VMProtect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공개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UltraProtect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Morphine</a:t>
            </a: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209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Packer?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423490" y="5620664"/>
            <a:ext cx="18002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2.x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08297" y="5558995"/>
            <a:ext cx="19945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VMProtect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3.x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58" y="1691305"/>
            <a:ext cx="4534533" cy="386769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90" y="1673870"/>
            <a:ext cx="5367261" cy="388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79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Packer?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1681" y="2023109"/>
            <a:ext cx="972121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프로텍터는 사용자 코드를 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보호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해주는데 사용될 수 있다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하지만 역으로 악성코드를 숨기는데 또한 사용될 수 있다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defRPr/>
            </a:pP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난독화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및 코드 보호 기법이 들어가면서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Defender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나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Anti-Virus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에서도 탐지가 힘들어지기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떄문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최근 악성코드들은 컴퓨터에서 어떤 일을 수행하는지 모르게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활동해야 할 필요가 있어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악성코드 개발자 또한 프로텍터를 사용하여 악성코드를 배포함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892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Sample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575650" y="4441124"/>
            <a:ext cx="5040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MessageBoxW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함수를 호출하는 프로그램 작성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236" y="2814552"/>
            <a:ext cx="1095528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7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Protector?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67760" y="3933070"/>
            <a:ext cx="4176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적용 후 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9KB -&gt; </a:t>
            </a:r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1,298KB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용량 증가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548" y="3167026"/>
            <a:ext cx="5934903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67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Protector?</a:t>
            </a: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87360" y="4487840"/>
            <a:ext cx="3240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적용 전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4140" y="4466653"/>
            <a:ext cx="3240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적용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Section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16" y="3238571"/>
            <a:ext cx="4531266" cy="105454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38571"/>
            <a:ext cx="4617907" cy="105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Protector?</a:t>
            </a: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87360" y="4487840"/>
            <a:ext cx="3240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적용 전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04140" y="4466653"/>
            <a:ext cx="3240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적용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IAT</a:t>
            </a:r>
            <a:endParaRPr lang="en-US" altLang="ko-KR" dirty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05" y="2492870"/>
            <a:ext cx="4606421" cy="180328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040" y="2492870"/>
            <a:ext cx="4321861" cy="18032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4290" y="1419131"/>
            <a:ext cx="3240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MessageBoxW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함수가 사라짐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7464190" y="1788463"/>
            <a:ext cx="576080" cy="41636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629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Protector?</a:t>
            </a: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83" y="2906185"/>
            <a:ext cx="4860950" cy="16306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87360" y="4625790"/>
            <a:ext cx="3240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적용 전 </a:t>
            </a:r>
            <a:r>
              <a:rPr lang="en-US" altLang="ko-KR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EntryPoint</a:t>
            </a:r>
            <a:endParaRPr lang="en-US" altLang="ko-KR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403" y="2906185"/>
            <a:ext cx="5894561" cy="16248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48160" y="4625790"/>
            <a:ext cx="32404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적용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후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EntryPoint</a:t>
            </a:r>
            <a:endParaRPr lang="en-US" altLang="ko-KR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618683" y="2902115"/>
            <a:ext cx="504070" cy="1440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803403" y="2902115"/>
            <a:ext cx="504070" cy="1440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 flipH="1">
            <a:off x="1266773" y="2110005"/>
            <a:ext cx="1152160" cy="64809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18933" y="1866297"/>
            <a:ext cx="2412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0x007C1266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 flipH="1">
            <a:off x="6303512" y="2074515"/>
            <a:ext cx="1152160" cy="64809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62529" y="1866297"/>
            <a:ext cx="2412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0x01095000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60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en-US" altLang="ko-KR" sz="3700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obfucation</a:t>
            </a: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11780" y="3573020"/>
            <a:ext cx="3672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Original user32.MessageBoxW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191" y="2645792"/>
            <a:ext cx="7668805" cy="76210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191" y="4142139"/>
            <a:ext cx="7668806" cy="9145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11780" y="5257599"/>
            <a:ext cx="432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user32.MessageBoxW obfuscated</a:t>
            </a: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450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en-US" altLang="ko-KR" sz="3700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obfucation</a:t>
            </a: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630" y="2131422"/>
            <a:ext cx="5266110" cy="31801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72257" y="5517290"/>
            <a:ext cx="46154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Obfuscated API function Call Routine</a:t>
            </a:r>
          </a:p>
        </p:txBody>
      </p:sp>
    </p:spTree>
    <p:extLst>
      <p:ext uri="{BB962C8B-B14F-4D97-AF65-F5344CB8AC3E}">
        <p14:creationId xmlns:p14="http://schemas.microsoft.com/office/powerpoint/2010/main" val="27444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en-US" altLang="ko-KR" sz="3700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obfucation</a:t>
            </a: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87360" y="4970525"/>
            <a:ext cx="3672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Calling Obfuscated API function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50" y="1865169"/>
            <a:ext cx="5297232" cy="300403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76150" y="5048649"/>
            <a:ext cx="41765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수십 개의 </a:t>
            </a: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jmp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문이 수행되고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호출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65168"/>
            <a:ext cx="5982092" cy="3004031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7975142" y="4665461"/>
            <a:ext cx="497188" cy="19564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7975142" y="1835203"/>
            <a:ext cx="1934330" cy="19564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/>
          <p:cNvCxnSpPr/>
          <p:nvPr/>
        </p:nvCxnSpPr>
        <p:spPr>
          <a:xfrm flipH="1">
            <a:off x="8472330" y="1302527"/>
            <a:ext cx="579138" cy="39602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V="1">
            <a:off x="5893482" y="4861105"/>
            <a:ext cx="1930758" cy="80020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92180" y="827130"/>
            <a:ext cx="47998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u="sng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MessageBoxW</a:t>
            </a:r>
            <a:r>
              <a:rPr lang="en-US" altLang="ko-KR" u="sng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&gt; </a:t>
            </a:r>
            <a:r>
              <a:rPr lang="en-US" altLang="ko-KR" dirty="0" err="1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MessageBoxTimeoutW</a:t>
            </a:r>
            <a:endParaRPr lang="en-US" altLang="ko-KR" u="sng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83790" y="5764348"/>
            <a:ext cx="35216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</a:t>
            </a:r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et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명령으로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함수 호출 후 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기존 함수로 복귀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774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en-US" altLang="ko-KR" sz="3700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obfucation</a:t>
            </a: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640" y="1988800"/>
            <a:ext cx="931591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Wrapping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기능을 통해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호출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Routine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 </a:t>
            </a:r>
            <a:r>
              <a:rPr lang="ko-KR" altLang="en-US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난독화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됨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MessageBoxW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함수가 호출되지 않고 </a:t>
            </a:r>
            <a:r>
              <a:rPr lang="en-US" altLang="ko-KR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MessageBoxTimeoutW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함수가 호출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bp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방지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MessageBoxTimeoutW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함수는 </a:t>
            </a:r>
            <a:r>
              <a:rPr lang="en-US" altLang="ko-KR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MessageBoxW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함수 </a:t>
            </a:r>
            <a:r>
              <a:rPr lang="ko-KR" altLang="en-US" dirty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내부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적으로 호출되는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함수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API Wrapping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기능은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호출 루틴을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난독화시켜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ImportTable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목록을 숨기거나 호출을 숨긴다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 분석을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힘들게한다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이는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Defender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이나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Anti-Virus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에서도 탐지가 힘들도록 한다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285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en-US" altLang="ko-KR" sz="3700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obfucation</a:t>
            </a:r>
            <a:r>
              <a:rPr lang="en-US" altLang="ko-KR" sz="3700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?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640" y="1988800"/>
            <a:ext cx="931591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수동으로 </a:t>
            </a:r>
            <a:r>
              <a:rPr lang="ko-KR" altLang="en-US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프로텍터의 구조를 잘 알아야함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공개된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Unpack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Script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Unpacker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자동화 툴을 이용 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기준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1~2.x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버전까진 자료가 인터넷에 </a:t>
            </a:r>
            <a:r>
              <a:rPr lang="ko-KR" altLang="en-US" dirty="0" err="1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공개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되있음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1889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Manual analysis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640" y="1988800"/>
            <a:ext cx="93159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수동으로 </a:t>
            </a:r>
            <a:r>
              <a:rPr lang="ko-KR" altLang="en-US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00" y="2588919"/>
            <a:ext cx="6012012" cy="3372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26701" y="6093370"/>
            <a:ext cx="3672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.text</a:t>
            </a:r>
          </a:p>
        </p:txBody>
      </p:sp>
    </p:spTree>
    <p:extLst>
      <p:ext uri="{BB962C8B-B14F-4D97-AF65-F5344CB8AC3E}">
        <p14:creationId xmlns:p14="http://schemas.microsoft.com/office/powerpoint/2010/main" val="670510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Manual analysis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640" y="1988800"/>
            <a:ext cx="931591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dirty="0" err="1">
                <a:solidFill>
                  <a:schemeClr val="bg1"/>
                </a:solidFill>
              </a:rPr>
              <a:t>VirtualProtect</a:t>
            </a: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5300" y="2542797"/>
            <a:ext cx="46806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</a:rPr>
              <a:t>BOOL </a:t>
            </a:r>
            <a:r>
              <a:rPr lang="en-US" altLang="ko-KR" dirty="0" err="1">
                <a:solidFill>
                  <a:schemeClr val="bg1"/>
                </a:solidFill>
              </a:rPr>
              <a:t>VirtualProtect</a:t>
            </a:r>
            <a:r>
              <a:rPr lang="en-US" altLang="ko-KR" dirty="0">
                <a:solidFill>
                  <a:schemeClr val="bg1"/>
                </a:solidFill>
              </a:rPr>
              <a:t>( </a:t>
            </a:r>
            <a:endParaRPr lang="en-US" altLang="ko-K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</a:rPr>
              <a:t>[</a:t>
            </a:r>
            <a:r>
              <a:rPr lang="en-US" altLang="ko-KR" dirty="0">
                <a:solidFill>
                  <a:schemeClr val="bg1"/>
                </a:solidFill>
              </a:rPr>
              <a:t>in] LPVOID </a:t>
            </a:r>
            <a:r>
              <a:rPr lang="en-US" altLang="ko-KR" dirty="0" err="1">
                <a:solidFill>
                  <a:schemeClr val="bg1"/>
                </a:solidFill>
              </a:rPr>
              <a:t>lpAddress</a:t>
            </a:r>
            <a:r>
              <a:rPr lang="en-US" altLang="ko-KR" dirty="0">
                <a:solidFill>
                  <a:schemeClr val="bg1"/>
                </a:solidFill>
              </a:rPr>
              <a:t>, [in] SIZE_T </a:t>
            </a:r>
            <a:r>
              <a:rPr lang="en-US" altLang="ko-KR" dirty="0" err="1">
                <a:solidFill>
                  <a:schemeClr val="bg1"/>
                </a:solidFill>
              </a:rPr>
              <a:t>dwSize</a:t>
            </a:r>
            <a:r>
              <a:rPr lang="en-US" altLang="ko-KR" dirty="0">
                <a:solidFill>
                  <a:schemeClr val="bg1"/>
                </a:solidFill>
              </a:rPr>
              <a:t>, [in] DWORD </a:t>
            </a:r>
            <a:r>
              <a:rPr lang="en-US" altLang="ko-KR" dirty="0" err="1">
                <a:solidFill>
                  <a:schemeClr val="bg1"/>
                </a:solidFill>
              </a:rPr>
              <a:t>flNewProtect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endParaRPr lang="en-US" altLang="ko-KR" dirty="0" smtClean="0">
              <a:solidFill>
                <a:schemeClr val="bg1"/>
              </a:solidFill>
            </a:endParaRPr>
          </a:p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</a:rPr>
              <a:t>[</a:t>
            </a:r>
            <a:r>
              <a:rPr lang="en-US" altLang="ko-KR" dirty="0">
                <a:solidFill>
                  <a:schemeClr val="bg1"/>
                </a:solidFill>
              </a:rPr>
              <a:t>out] PDWORD </a:t>
            </a:r>
            <a:r>
              <a:rPr lang="en-US" altLang="ko-KR" dirty="0" err="1">
                <a:solidFill>
                  <a:schemeClr val="bg1"/>
                </a:solidFill>
              </a:rPr>
              <a:t>lpflOldProtect</a:t>
            </a:r>
            <a:r>
              <a:rPr lang="en-US" altLang="ko-KR" dirty="0">
                <a:solidFill>
                  <a:schemeClr val="bg1"/>
                </a:solidFill>
              </a:rPr>
              <a:t> );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5300" y="4216370"/>
            <a:ext cx="784909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>
                <a:solidFill>
                  <a:schemeClr val="bg1"/>
                </a:solidFill>
                <a:latin typeface="+mj-lt"/>
              </a:rPr>
              <a:t>호출 프로세스의 가상 주소 공간에서 </a:t>
            </a:r>
            <a:r>
              <a:rPr lang="ko-KR" altLang="en-US" dirty="0" err="1">
                <a:solidFill>
                  <a:schemeClr val="bg1"/>
                </a:solidFill>
                <a:latin typeface="+mj-lt"/>
              </a:rPr>
              <a:t>커밋</a:t>
            </a:r>
            <a:r>
              <a:rPr lang="ko-KR" altLang="en-US" dirty="0">
                <a:solidFill>
                  <a:schemeClr val="bg1"/>
                </a:solidFill>
                <a:latin typeface="+mj-lt"/>
              </a:rPr>
              <a:t> 된 </a:t>
            </a:r>
            <a:r>
              <a:rPr lang="ko-KR" altLang="en-US" dirty="0">
                <a:solidFill>
                  <a:srgbClr val="FF0000"/>
                </a:solidFill>
                <a:latin typeface="+mj-lt"/>
              </a:rPr>
              <a:t>페이지 영역의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보호를 </a:t>
            </a:r>
            <a:r>
              <a:rPr lang="ko-KR" altLang="en-US" dirty="0" smtClean="0">
                <a:solidFill>
                  <a:schemeClr val="bg1"/>
                </a:solidFill>
                <a:latin typeface="+mj-lt"/>
              </a:rPr>
              <a:t>변경</a:t>
            </a:r>
            <a:endParaRPr lang="en-US" altLang="ko-KR" dirty="0" smtClean="0">
              <a:solidFill>
                <a:schemeClr val="bg1"/>
              </a:solidFill>
              <a:latin typeface="+mj-lt"/>
            </a:endParaRPr>
          </a:p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ko-KR" altLang="en-US" dirty="0" smtClean="0">
                <a:solidFill>
                  <a:schemeClr val="bg1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에선 코드 압축을 해제하기 위해 페이지 영역 </a:t>
            </a:r>
            <a:r>
              <a:rPr lang="en-US" altLang="ko-KR" dirty="0" smtClean="0">
                <a:solidFill>
                  <a:srgbClr val="FF0000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READ_WRITE_EXCUTE </a:t>
            </a:r>
            <a:r>
              <a:rPr lang="ko-KR" altLang="en-US" dirty="0" smtClean="0">
                <a:solidFill>
                  <a:schemeClr val="bg1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권한을 </a:t>
            </a:r>
            <a:r>
              <a:rPr lang="ko-KR" altLang="en-US" dirty="0" err="1" smtClean="0">
                <a:solidFill>
                  <a:schemeClr val="bg1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갖기위해</a:t>
            </a:r>
            <a:r>
              <a:rPr lang="ko-KR" altLang="en-US" dirty="0" smtClean="0">
                <a:solidFill>
                  <a:schemeClr val="bg1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 err="1" smtClean="0">
                <a:solidFill>
                  <a:schemeClr val="bg1"/>
                </a:solidFill>
                <a:latin typeface="+mj-lt"/>
              </a:rPr>
              <a:t>VirtualProtect</a:t>
            </a:r>
            <a:r>
              <a:rPr lang="en-US" altLang="ko-KR" u="sng" dirty="0" smtClean="0">
                <a:solidFill>
                  <a:schemeClr val="bg1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함수를 호출</a:t>
            </a:r>
            <a:endParaRPr lang="en-US" altLang="ko-KR" dirty="0" smtClean="0">
              <a:solidFill>
                <a:schemeClr val="bg1"/>
              </a:solidFill>
              <a:latin typeface="+mj-lt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+mj-lt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이 점을 활용하여 </a:t>
            </a:r>
            <a:r>
              <a:rPr lang="en-US" altLang="ko-KR" dirty="0" smtClean="0">
                <a:solidFill>
                  <a:schemeClr val="bg1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OEP(Original Entry Point)</a:t>
            </a:r>
            <a:r>
              <a:rPr lang="ko-KR" altLang="en-US" dirty="0" smtClean="0">
                <a:solidFill>
                  <a:schemeClr val="bg1"/>
                </a:solidFill>
                <a:latin typeface="+mj-lt"/>
                <a:ea typeface="함초롬바탕" panose="02030604000101010101" pitchFamily="18" charset="-127"/>
                <a:cs typeface="함초롬바탕" panose="02030604000101010101" pitchFamily="18" charset="-127"/>
              </a:rPr>
              <a:t>를 탐색</a:t>
            </a:r>
            <a:endParaRPr lang="en-US" altLang="ko-KR" dirty="0" smtClean="0">
              <a:solidFill>
                <a:schemeClr val="bg1"/>
              </a:solidFill>
              <a:latin typeface="+mj-lt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083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Manual analysis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640" y="1988800"/>
            <a:ext cx="93159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수동으로 </a:t>
            </a:r>
            <a:r>
              <a:rPr lang="ko-KR" altLang="en-US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27810" y="5724038"/>
            <a:ext cx="36725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VirtualProtect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BP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설치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310" y="3004462"/>
            <a:ext cx="7335274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Manual analysis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640" y="1988800"/>
            <a:ext cx="93159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수동으로 </a:t>
            </a:r>
            <a:r>
              <a:rPr lang="ko-KR" altLang="en-US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23740" y="5417328"/>
            <a:ext cx="43926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.text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영역에 압축해제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OEP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</a:t>
            </a:r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0x00EF1000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것을 알 수 있음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970" y="2893694"/>
            <a:ext cx="6110628" cy="191692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67" y="2678385"/>
            <a:ext cx="4422221" cy="2480379"/>
          </a:xfrm>
          <a:prstGeom prst="rect">
            <a:avLst/>
          </a:prstGeom>
        </p:spPr>
      </p:pic>
      <p:sp>
        <p:nvSpPr>
          <p:cNvPr id="2" name="오른쪽 화살표 1"/>
          <p:cNvSpPr/>
          <p:nvPr/>
        </p:nvSpPr>
        <p:spPr>
          <a:xfrm>
            <a:off x="5225541" y="3717040"/>
            <a:ext cx="409365" cy="43206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14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Manual analysis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640" y="1988800"/>
            <a:ext cx="93159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수동으로 </a:t>
            </a:r>
            <a:r>
              <a:rPr lang="ko-KR" altLang="en-US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31630" y="5227549"/>
            <a:ext cx="76330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Call </a:t>
            </a:r>
            <a:r>
              <a:rPr lang="en-US" altLang="ko-KR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0x59C0000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-&gt; Call user32.MessageBoxW Path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82" y="3208894"/>
            <a:ext cx="4936617" cy="1119281"/>
          </a:xfrm>
          <a:prstGeom prst="rect">
            <a:avLst/>
          </a:prstGeom>
        </p:spPr>
      </p:pic>
      <p:sp>
        <p:nvSpPr>
          <p:cNvPr id="2" name="오른쪽 화살표 1"/>
          <p:cNvSpPr/>
          <p:nvPr/>
        </p:nvSpPr>
        <p:spPr>
          <a:xfrm>
            <a:off x="5662377" y="3611137"/>
            <a:ext cx="409365" cy="43206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765" y="3208894"/>
            <a:ext cx="5758384" cy="111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13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Manual analysis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415350" y="5134902"/>
            <a:ext cx="76330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생성한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Import Table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추출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41" y="2292393"/>
            <a:ext cx="5279821" cy="254029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180" y="1356390"/>
            <a:ext cx="4045182" cy="44122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56300" y="5920973"/>
            <a:ext cx="288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Scylla Plug-In Dump</a:t>
            </a:r>
          </a:p>
        </p:txBody>
      </p:sp>
    </p:spTree>
    <p:extLst>
      <p:ext uri="{BB962C8B-B14F-4D97-AF65-F5344CB8AC3E}">
        <p14:creationId xmlns:p14="http://schemas.microsoft.com/office/powerpoint/2010/main" val="2261072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Manual analysis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55437" y="2940887"/>
            <a:ext cx="76330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덤프 후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PE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툴로 확인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0220" y="6077178"/>
            <a:ext cx="2880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성공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00" y="2564880"/>
            <a:ext cx="5858693" cy="24768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990" y="3438542"/>
            <a:ext cx="5125165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8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Manual analysis</a:t>
            </a:r>
            <a:endParaRPr lang="ko-KR" altLang="en-US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0640" y="1988800"/>
            <a:ext cx="931591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간단한 프로그램이 아닌 방대한 프로그램의 경우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수동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언패킹이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매우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힘듬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프로그램의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기존 호출 루틴을 알고있어야 패치 후 덤프가 가능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3.x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상위버전에선 해당 방법으로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불가능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832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Unlicense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8260" y="2420860"/>
            <a:ext cx="3872981" cy="39996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40" y="1988800"/>
            <a:ext cx="931591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자동화 툴을 이용한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더미다 적용된 프로그램을 자동으로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언패킹해주는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Unlicense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자동화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툴을 이용 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/</a:t>
            </a:r>
            <a:r>
              <a:rPr lang="en-US" altLang="ko-KR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WinLicense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2.x and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3.x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버전 지원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32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비트 및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64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비트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PE (EXE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및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DLL)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처리</a:t>
            </a:r>
          </a:p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32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비트 및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64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비트를 처리합니다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.NET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어셈블리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(EXE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만 해당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</a:p>
          <a:p>
            <a:pPr>
              <a:defRPr/>
            </a:pP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원래 진입 점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(OEP)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자동으로 복구</a:t>
            </a:r>
          </a:p>
          <a:p>
            <a:pPr>
              <a:defRPr/>
            </a:pP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난독 화 된 가져 오기 테이블을 자동으로 복구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https://github.com/ergrelet/unlicense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422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Unlicense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0640" y="1988800"/>
            <a:ext cx="931591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NET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어셈블리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DLL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지원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대부분의 경우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실행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(Runnable)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가능한 덤프를 생성하지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않음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ko-KR" altLang="en-US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Themida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2.x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로 포장 된 </a:t>
            </a: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32 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비트 실행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파일을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하는데 매우 느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림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WinLicense</a:t>
            </a:r>
            <a:r>
              <a:rPr lang="ko-KR" altLang="en-US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로 보호 된 실행 파일의 압축을 풀려면 유효한 라이센스 파일이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필요함 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582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Unlicense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0640" y="1988800"/>
            <a:ext cx="931591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자동화 툴을 이용한 </a:t>
            </a: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언패킹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Usage : unlicensed.exe PE_TO_DUMP &lt;flags&gt;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570" y="4183543"/>
            <a:ext cx="4210638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99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Unlicense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690" y="2403320"/>
            <a:ext cx="6862304" cy="3384470"/>
          </a:xfrm>
          <a:prstGeom prst="rect">
            <a:avLst/>
          </a:prstGeom>
        </p:spPr>
      </p:pic>
      <p:cxnSp>
        <p:nvCxnSpPr>
          <p:cNvPr id="9" name="직선 화살표 연결선 8"/>
          <p:cNvCxnSpPr/>
          <p:nvPr/>
        </p:nvCxnSpPr>
        <p:spPr>
          <a:xfrm>
            <a:off x="2891661" y="2744729"/>
            <a:ext cx="91906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59370" y="3280696"/>
            <a:ext cx="244847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1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추출된 </a:t>
            </a:r>
            <a:r>
              <a:rPr lang="en-US" altLang="ko-KR" sz="11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OEP </a:t>
            </a:r>
            <a:r>
              <a:rPr lang="ko-KR" altLang="en-US" sz="11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</a:t>
            </a:r>
            <a:endParaRPr lang="en-US" altLang="ko-KR" sz="11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0825" y="2606229"/>
            <a:ext cx="244847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1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감지된 더미다 버전</a:t>
            </a:r>
            <a:endParaRPr lang="en-US" altLang="ko-KR" sz="11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2891661" y="3429000"/>
            <a:ext cx="91906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2891660" y="3852084"/>
            <a:ext cx="91906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99275" y="3704393"/>
            <a:ext cx="24484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Wrapping</a:t>
            </a:r>
            <a:r>
              <a:rPr lang="ko-KR" altLang="en-US" sz="12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된 </a:t>
            </a:r>
            <a:r>
              <a:rPr lang="en-US" altLang="ko-KR" sz="11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</a:t>
            </a:r>
            <a:r>
              <a:rPr lang="en-US" altLang="ko-KR" sz="12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2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개수</a:t>
            </a:r>
            <a:endParaRPr lang="en-US" altLang="ko-KR" sz="12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2907" y="4653918"/>
            <a:ext cx="244847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1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ko-KR" altLang="en-US" sz="11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호출 코드 복원</a:t>
            </a:r>
            <a:endParaRPr lang="en-US" altLang="ko-KR" sz="11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2860012" y="4797190"/>
            <a:ext cx="91906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2883782" y="5149912"/>
            <a:ext cx="91906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79470" y="5019107"/>
            <a:ext cx="244847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100" dirty="0" smtClean="0">
                <a:solidFill>
                  <a:srgbClr val="FF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덤프</a:t>
            </a:r>
            <a:endParaRPr lang="en-US" altLang="ko-KR" sz="1100" dirty="0" smtClean="0">
              <a:solidFill>
                <a:srgbClr val="FF0000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3869302" y="2832468"/>
            <a:ext cx="352849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3869302" y="3573020"/>
            <a:ext cx="352849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/>
          <p:nvPr/>
        </p:nvCxnSpPr>
        <p:spPr>
          <a:xfrm>
            <a:off x="3869302" y="3933070"/>
            <a:ext cx="352849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3869302" y="4869200"/>
            <a:ext cx="352849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869302" y="5274546"/>
            <a:ext cx="3528490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/>
          <p:cNvSpPr/>
          <p:nvPr/>
        </p:nvSpPr>
        <p:spPr>
          <a:xfrm>
            <a:off x="7536200" y="3704393"/>
            <a:ext cx="360050" cy="2769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432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41681" y="834771"/>
            <a:ext cx="936117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 err="1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Unlicense</a:t>
            </a:r>
            <a:endParaRPr lang="en-US" altLang="ko-KR" sz="3700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 rot="16200000" flipH="1">
            <a:off x="299276" y="1160716"/>
            <a:ext cx="648081" cy="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160" y="2457569"/>
            <a:ext cx="6544588" cy="25721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60" y="3381197"/>
            <a:ext cx="5115639" cy="241016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970" y="4316024"/>
            <a:ext cx="6189178" cy="5405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52230" y="5085230"/>
            <a:ext cx="76330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복원된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API </a:t>
            </a:r>
            <a:r>
              <a:rPr lang="ko-KR" altLang="en-US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호출 코드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3050" y="1805073"/>
            <a:ext cx="931591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Return</a:t>
            </a: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021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 rot="16200000" flipH="1">
            <a:off x="227267" y="1160716"/>
            <a:ext cx="648081" cy="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41681" y="834771"/>
            <a:ext cx="9361170" cy="661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3700" dirty="0" smtClean="0">
                <a:solidFill>
                  <a:schemeClr val="bg1"/>
                </a:solidFill>
              </a:rPr>
              <a:t>Thanks you</a:t>
            </a:r>
            <a:endParaRPr lang="ko-KR" altLang="en-US" sz="37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0640" y="1988800"/>
            <a:ext cx="931591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ko-KR" altLang="en-US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분석환경</a:t>
            </a: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ko-KR" u="sng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742950" lvl="1" indent="-285750">
              <a:buFontTx/>
              <a:buChar char="-"/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Windows 10 x64</a:t>
            </a:r>
          </a:p>
          <a:p>
            <a:pPr marL="742950" lvl="1" indent="-285750">
              <a:buFontTx/>
              <a:buChar char="-"/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742950" lvl="1" indent="-285750">
              <a:buFontTx/>
              <a:buChar char="-"/>
              <a:defRPr/>
            </a:pP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X64dbg</a:t>
            </a:r>
          </a:p>
          <a:p>
            <a:pPr marL="742950" lvl="1" indent="-285750">
              <a:buFontTx/>
              <a:buChar char="-"/>
              <a:defRPr/>
            </a:pPr>
            <a:endParaRPr lang="en-US" altLang="ko-KR" dirty="0" smtClean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defRPr/>
            </a:pPr>
            <a:r>
              <a:rPr lang="en-US" altLang="ko-KR" dirty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- </a:t>
            </a:r>
            <a:r>
              <a:rPr lang="en-US" altLang="ko-KR" dirty="0" err="1" smtClean="0">
                <a:solidFill>
                  <a:schemeClr val="bg1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unlicense</a:t>
            </a:r>
            <a:endParaRPr lang="en-US" altLang="ko-KR" dirty="0">
              <a:solidFill>
                <a:schemeClr val="bg1"/>
              </a:solidFill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663</Words>
  <Application>Microsoft Office PowerPoint</Application>
  <PresentationFormat>와이드스크린</PresentationFormat>
  <Paragraphs>213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함초롬돋움</vt:lpstr>
      <vt:lpstr>함초롬바탕</vt:lpstr>
      <vt:lpstr>Arial</vt:lpstr>
      <vt:lpstr>Times New Roman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jdh69</dc:creator>
  <cp:lastModifiedBy>전동혁</cp:lastModifiedBy>
  <cp:revision>644</cp:revision>
  <dcterms:created xsi:type="dcterms:W3CDTF">2023-11-13T03:20:15Z</dcterms:created>
  <dcterms:modified xsi:type="dcterms:W3CDTF">2026-01-11T11:01:29Z</dcterms:modified>
  <cp:version>1000.0000.01</cp:version>
</cp:coreProperties>
</file>